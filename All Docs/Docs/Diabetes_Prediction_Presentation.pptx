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SEMESTER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Prediction using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Logistic Regression, Decision Tree, Random Forest, SVM, and KNN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Pima Indians Diabetes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FA22-BSE-099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Abbottabad Campus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Presentation — 9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patient's clinical measurements, predict whether they are likely to be 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binary classification task.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12648" y="268833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6883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90" dirty="0"/>
          </a:p>
        </p:txBody>
      </p:sp>
      <p:sp>
        <p:nvSpPr>
          <p:cNvPr id="6" name="Text 4"/>
          <p:cNvSpPr/>
          <p:nvPr/>
        </p:nvSpPr>
        <p:spPr>
          <a:xfrm>
            <a:off x="1188720" y="26517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a leading chronic disease; early detection enables timely intervention.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" y="346557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3465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188720" y="34290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relies on clinical lab tests — costly and slow.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" y="424281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4242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90" dirty="0"/>
          </a:p>
        </p:txBody>
      </p:sp>
      <p:sp>
        <p:nvSpPr>
          <p:cNvPr id="12" name="Text 10"/>
          <p:cNvSpPr/>
          <p:nvPr/>
        </p:nvSpPr>
        <p:spPr>
          <a:xfrm>
            <a:off x="1188720" y="4206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flag high-risk patients using routinely collected measurements alone.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1234440"/>
            <a:ext cx="4480560" cy="4572000"/>
          </a:xfrm>
          <a:prstGeom prst="roundRect">
            <a:avLst>
              <a:gd name="adj" fmla="val 2449"/>
            </a:avLst>
          </a:prstGeom>
          <a:solidFill>
            <a:srgbClr val="F0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60920" y="214884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0" y="212140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dataset (EDA)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2898648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287121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Preprocess: handle missing values, scale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3648456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3621024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5 ML classification models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0920" y="4398264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0" y="43708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accuracy, precision, recall, F1, confusion matrix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5148072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0" y="5120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 for real-time prediction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Institute of Diabetes and Digestive and Kidney Diseases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Machine Learning Mastery GitHub Datasets repository)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8716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23774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48716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9748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3774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48716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original dataset's Pregnancies feature was excluded to keep the model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non-reproductive clinical measurements.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234440"/>
          <a:ext cx="4480560" cy="45720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Glucose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Plasma glucose concentration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BloodPressure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Diastolic blood pressure (mm Hg)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SkinThickness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Triceps skin fold thickness (mm)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Insulin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2-hr serum insulin (mu U/ml)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BMI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Body mass index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DiabetesPedigreeFunction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Family history likelihood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Age in years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Outcome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</a:rPr>
                        <a:t>Target: 1 = Diabetic, 0 = Non-Diabetic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Preprocessing: Missing Values, Encoding, Scaling &amp; Split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9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1907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190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609344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Handling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invalid zero values in Glucose, BloodPressure, SkinThickness, Insulin, and BMI were treated as missing and imputed with the column median.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0F7F6"/>
          </a:solidFill>
          <a:ln w="12700">
            <a:solidFill>
              <a:srgbClr val="E0E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8211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821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3072384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28800" y="347472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standardized (StandardScaler: zero mean, unit variance) — essential for distance-based models like SVM and KNN.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64515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451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4535424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28800" y="493776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testing, using stratified sampling to preserve class balance. Random seed fixed at 42 for reproducibility.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Used: 5 ML Algorithms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" y="15727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linear baseline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15727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feature interactions (max depth 5)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93608" y="15727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0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275320" y="2194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trees, robust to overfitting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381304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813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kernel, margin-based separation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5661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4568" y="381304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813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4526280" y="4434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48463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learner (k = 9)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the same preprocessed data and evaluated on the same held-out test set for a fair comparison.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Graphs: Dataset Visuals &amp; Feature Understanding</a:t>
            </a:r>
            <a:endParaRPr lang="en-US" sz="3000" dirty="0"/>
          </a:p>
        </p:txBody>
      </p:sp>
      <p:pic>
        <p:nvPicPr>
          <p:cNvPr id="3" name="Image 0" descr="fig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212080" cy="2148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564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Target/Class Distribution — moderate imbalance (~65% Non-Diabetic vs ~35% Diabetic).</a:t>
            </a:r>
            <a:endParaRPr lang="en-US" sz="1050" dirty="0"/>
          </a:p>
        </p:txBody>
      </p:sp>
      <p:pic>
        <p:nvPicPr>
          <p:cNvPr id="5" name="Image 1" descr="fig3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43000"/>
            <a:ext cx="3840480" cy="34930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5040" y="4663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Correlation Heatmap — Glucose shows the strongest positive correlation with Outcome, followed by BMI and Age.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640" y="41605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 (Figure 2) show Glucose and BMI roughly normal around clinical norms; Insulin &amp; SkinThickness needed zero-value imputation.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Accuracy, Precision, Recall, F1-score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/>
              <a:tblGrid>
                <a:gridCol w="3291840"/>
                <a:gridCol w="1943100"/>
                <a:gridCol w="1943100"/>
                <a:gridCol w="1943100"/>
                <a:gridCol w="19431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E2E"/>
                          </a:solidFill>
                        </a:rPr>
                        <a:t>Decision Tree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E2E"/>
                          </a:solidFill>
                        </a:rPr>
                        <a:t>77.27%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E2E"/>
                          </a:solidFill>
                        </a:rPr>
                        <a:t>65.57%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E2E"/>
                          </a:solidFill>
                        </a:rPr>
                        <a:t>74.07%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E2E"/>
                          </a:solidFill>
                        </a:rPr>
                        <a:t>69.57%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KNN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76.62%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69.57%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59.26%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64.00%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75.32%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67.39%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57.41%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62.00%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SVM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73.38%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65.85%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50.00%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56.84%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72.08%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62.22%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51.85%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2E"/>
                          </a:solidFill>
                        </a:rPr>
                        <a:t>56.57%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4348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0F7F6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45720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Decision Tree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(77.27%), highest recall (74.07%) and highest F1-score (69.57%) — most balanced performer overall.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Best Model</a:t>
            </a:r>
            <a:endParaRPr lang="en-US" sz="3000" dirty="0"/>
          </a:p>
        </p:txBody>
      </p:sp>
      <p:pic>
        <p:nvPicPr>
          <p:cNvPr id="3" name="Image 0" descr="fig4_accurac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663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Accuracy Comparison across all 5 models.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63640" y="128016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0F7F6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Decision Tree Wins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729984" y="215798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6729984" y="2157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70" dirty="0"/>
          </a:p>
        </p:txBody>
      </p:sp>
      <p:sp>
        <p:nvSpPr>
          <p:cNvPr id="9" name="Text 6"/>
          <p:cNvSpPr/>
          <p:nvPr/>
        </p:nvSpPr>
        <p:spPr>
          <a:xfrm>
            <a:off x="7086600" y="21031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(77.27%) and F1-score (69.57%) among all 5 models.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29984" y="302666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6729984" y="30266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7086600" y="29718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(74.07%) — clinically important, since missed diagnoses (false negatives) are the costliest error type.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29984" y="389534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729984" y="3895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70" dirty="0"/>
          </a:p>
        </p:txBody>
      </p:sp>
      <p:sp>
        <p:nvSpPr>
          <p:cNvPr id="15" name="Text 12"/>
          <p:cNvSpPr/>
          <p:nvPr/>
        </p:nvSpPr>
        <p:spPr>
          <a:xfrm>
            <a:off x="7086600" y="38404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the Random Forest ensemble here — likely because the dataset is small (768 rows), where a well-tuned shallow tree generalizes competitively.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29984" y="476402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6729984" y="4764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70" dirty="0"/>
          </a:p>
        </p:txBody>
      </p:sp>
      <p:sp>
        <p:nvSpPr>
          <p:cNvPr id="18" name="Text 15"/>
          <p:cNvSpPr/>
          <p:nvPr/>
        </p:nvSpPr>
        <p:spPr>
          <a:xfrm>
            <a:off x="7086600" y="47091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train (0.004s) alongside KNN — ideal for a responsive live dashboard.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Dashboard: Demo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dashboard workflow — live prediction demo shown in the final lab.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enters clinical values: Glucose, BMI, Age, Blood Pressure, Insulin, Skin Thickness, Pedigree Function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72968" y="30175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55848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Prediction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38728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Decision Tree model returns Diabetic / Non-Diabetic prediction with confidence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80176" y="30175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63056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Key Metrics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45936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displays model accuracy, precision, recall, and F1-score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87384" y="30175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70264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53144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Visual Graph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53144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0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/ risk chart shown alongside the prediction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(best_model.pkl) and scaler are already exported from the notebook, ready to power the live dashboard.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Achievement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compared 5 ML classifiers for diabetes prediction. Decision Tree achieved the best result: 77.27% accuracy, 69.57% F1-score.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(768 records), single demographic (Pima Indian women), moderate class imbalance (~65/35).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1783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 balancing (SMOTE) to improve recall further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286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Hyperparameter tuning (GridSearchCV)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788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K-fold cross-validation for robust estimates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3291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as a full clinical decision-support web 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Ghani  |  FA22-BSE-099  |  COMSATS University Islamabad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2026-07-17T12:50:19Z</dcterms:created>
  <dcterms:modified xsi:type="dcterms:W3CDTF">2026-07-17T12:50:19Z</dcterms:modified>
</cp:coreProperties>
</file>